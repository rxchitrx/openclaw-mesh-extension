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374" r:id="rId2"/>
    <p:sldId id="375" r:id="rId3"/>
    <p:sldId id="257" r:id="rId4"/>
    <p:sldId id="376" r:id="rId5"/>
    <p:sldId id="384" r:id="rId6"/>
    <p:sldId id="377" r:id="rId7"/>
    <p:sldId id="386" r:id="rId8"/>
    <p:sldId id="385" r:id="rId9"/>
    <p:sldId id="378" r:id="rId10"/>
    <p:sldId id="379" r:id="rId11"/>
    <p:sldId id="380" r:id="rId12"/>
    <p:sldId id="382" r:id="rId13"/>
    <p:sldId id="38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787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200" y="5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BAFF0E-449D-426B-83E6-7E557F3BCD7F}" type="datetimeFigureOut">
              <a:rPr lang="en-IN" smtClean="0"/>
              <a:t>08/05/26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2ADFC2-4656-49F6-8F5B-84313FD652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12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7732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4126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0C27D-19CA-456C-8028-34AA2E6F7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9BE2BE-018B-4E33-F41F-CAF8F4846E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1460E2-0EDB-0B01-A0FF-2DCC8EDAA1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C36462-DC7D-05B8-F415-E3D7B0F9CA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7145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8865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4B6E9-2660-6C55-29E8-D12394841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D3585B-3A6A-76B2-1593-D9323C17D1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91F0D3-3490-D994-EE1B-B42D702A14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E03936-6C24-3203-2DB5-A619C00EE8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2507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0E87C-1BF2-9990-5957-C9FFA9273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2616CB-51FA-41FF-9EC1-15005C14B2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D6537D-BDD4-14AF-407A-6B6C93D777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EBD5C7-7608-8306-AEF5-02B8C20A61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5339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7126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133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1306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9535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0324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264D7-FD5D-4592-B4BA-0A1638C282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322DA6-5CC0-4908-AB19-3BCB77EFC6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FF6F72-5872-4CEB-A8C1-89CFCA549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08/05/26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6BC3D-6474-4263-9B99-5E9D15575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A2E46B-395F-44BB-A399-301BD8986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3259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59695-79A9-4446-91E3-05E7FE7A1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66FC54-E211-48A1-8BCA-378B4D4D3A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25B42F-19A5-4F50-9CDF-42D673EB0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08/05/26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AEB133-FF63-4CDE-83A1-44AF473A2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A2E08C-2449-4EE7-85C3-B82B56662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0120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626C4-320A-4799-9AE2-8DDE1CA61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DC3420-268D-4A73-990C-4BA3150862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19061-FA9F-4CD9-8574-300E0E899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08/05/26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C8B69E-7D13-401E-BA52-560698F83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0F2BDD-5AC8-4AE3-8868-F8CC1DA76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8694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219AC-BA64-4335-BA9B-DF3911CCE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8DA36-87D1-4E4A-8D55-031DDA3086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5276BB-4B19-4B31-A15F-D171E88D88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E846C6-E4EC-417D-8F33-F85084C30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08/05/26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C9D499-DC6A-4178-AFA3-2E2D44FD3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E19571-DCCE-45D8-8783-EA6DC03D8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1939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78171-0F87-491D-955D-347FAE8D0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23EC69-5405-4A73-84BD-F54C9837DB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A1D5BF-B1AE-44F7-BF58-8E4B057CDD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7E8175-A0D7-4248-A114-5AC9DF5116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338F68-9ACA-4AC9-B3EC-D38E662B2A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F9F48F-32B7-4E62-920E-426CD4A43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08/05/26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7049EB-BDFC-47EA-9692-76B738943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F573FA-F1A3-4137-8DF6-8477A299D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6541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EC694-79DB-4363-B1A5-15A50E69F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4B602A-C477-4739-9033-AA90AEB95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08/05/26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E378F1-E22C-4E55-9DDB-BB46A0C14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5B7E4F-F4BD-47E4-8AF4-FE65D6600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3687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180C5E-189E-4B16-8B64-6164F629D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08/05/26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B3E471-C627-4A6F-8940-20A4EE7AC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F3B9AE-03BF-4E26-AF08-84460AF45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7498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65660-5922-4086-9079-F98C845BC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CA404-6545-4C37-A301-16A160A007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D04D32-44ED-4022-9B36-1EE734ED65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38BFFD-8B76-47E2-B9FB-5194F0101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08/05/26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D40FA1-8D0A-4E4C-9953-054729FB8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9A4A1-B2D3-4598-9C16-19E3F974E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3538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7357B-DBC0-436F-82C9-9BE7A6D46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CAA78A-18AB-4BC5-BEFE-4D14122FCE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76BB34-FC6B-48B7-88A4-726F547354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AB742C-BF4E-4140-8947-871247A33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08/05/26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1326A-4386-47BF-8036-878141A47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5A690-66C4-49A2-AFF2-86E9646D8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2603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FD690-141F-4B82-AAA6-311E8BB6E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5DCD3E-D233-4229-9571-4585EFE523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12A0F7-FDB1-43FF-A571-32B80EE10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08/05/26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B04E9-3520-49DA-836F-CFFB881FB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EC8C8B-43E3-4E78-9BFA-28431143D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4527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6DD375-6C7A-403C-8B36-D5D3CFCF0E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BF1880-F132-48C9-9D79-CA50684340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EB219E-CEFA-45B4-9588-67FAD5B86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08/05/26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14DA2-B751-43ED-834C-17F142F9E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DBFD0-8FFE-4F10-9A8D-DC32F2294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72880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0540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D61A3F-7420-4211-A9AF-443ACDC04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A53A93-B55A-4668-86F8-9483DF49D6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E196E0-46F1-4FF9-A486-7116F5016B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7F44E2-D9AA-43EA-B93A-EEC6CDC19CD5}" type="datetimeFigureOut">
              <a:rPr lang="en-IN" smtClean="0"/>
              <a:t>08/05/26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0E07B5-C98B-47C4-829C-B640A6AEE9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113DEB-9452-48C6-802D-EC521E6023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5818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xchitrx/openclaw-mesh-extension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Picture 98">
            <a:extLst>
              <a:ext uri="{FF2B5EF4-FFF2-40B4-BE49-F238E27FC236}">
                <a16:creationId xmlns:a16="http://schemas.microsoft.com/office/drawing/2014/main" id="{AA78BBCF-2634-4089-8492-D8569E905F6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35216" t="9860" r="35722" b="40504"/>
          <a:stretch/>
        </p:blipFill>
        <p:spPr>
          <a:xfrm>
            <a:off x="7372538" y="1619794"/>
            <a:ext cx="4421349" cy="5638238"/>
          </a:xfrm>
          <a:prstGeom prst="rect">
            <a:avLst/>
          </a:prstGeom>
        </p:spPr>
      </p:pic>
      <p:sp>
        <p:nvSpPr>
          <p:cNvPr id="75" name="TextBox 74">
            <a:extLst>
              <a:ext uri="{FF2B5EF4-FFF2-40B4-BE49-F238E27FC236}">
                <a16:creationId xmlns:a16="http://schemas.microsoft.com/office/drawing/2014/main" id="{966C81A6-8FBD-44BD-9DF5-A762864663F9}"/>
              </a:ext>
            </a:extLst>
          </p:cNvPr>
          <p:cNvSpPr txBox="1"/>
          <p:nvPr/>
        </p:nvSpPr>
        <p:spPr>
          <a:xfrm>
            <a:off x="0" y="604461"/>
            <a:ext cx="21825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Berlin Sans FB Demi" panose="020E0802020502020306" pitchFamily="34" charset="0"/>
                <a:ea typeface="SamsungOne 800" panose="020B0903030303020204" pitchFamily="34" charset="0"/>
              </a:rPr>
              <a:t>CLASH OF THE</a:t>
            </a:r>
            <a:endParaRPr lang="en-US" sz="2000" b="1" dirty="0">
              <a:solidFill>
                <a:srgbClr val="E81B25"/>
              </a:solidFill>
              <a:latin typeface="Berlin Sans FB Demi" panose="020E0802020502020306" pitchFamily="34" charset="0"/>
              <a:ea typeface="SamsungOne 800" panose="020B0903030303020204" pitchFamily="34" charset="0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2DB02A4-569F-4135-9840-A60286D3E03F}"/>
              </a:ext>
            </a:extLst>
          </p:cNvPr>
          <p:cNvSpPr txBox="1"/>
          <p:nvPr/>
        </p:nvSpPr>
        <p:spPr>
          <a:xfrm>
            <a:off x="1756232" y="436120"/>
            <a:ext cx="20911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CLAWS</a:t>
            </a:r>
            <a:endParaRPr lang="en-IN" sz="3600" dirty="0">
              <a:latin typeface="Berlin Sans FB Demi" panose="020E0802020502020306" pitchFamily="34" charset="0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DD060EA0-A6D1-484F-8987-38123CE63233}"/>
              </a:ext>
            </a:extLst>
          </p:cNvPr>
          <p:cNvSpPr txBox="1"/>
          <p:nvPr/>
        </p:nvSpPr>
        <p:spPr>
          <a:xfrm>
            <a:off x="137355" y="1619794"/>
            <a:ext cx="5229922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 err="1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RVCE_MergeMind</a:t>
            </a:r>
            <a:endParaRPr lang="en-US" sz="4000" b="1" dirty="0">
              <a:solidFill>
                <a:srgbClr val="E81B25"/>
              </a:solidFill>
              <a:latin typeface="Berlin Sans FB Demi" panose="020E0802020502020306" pitchFamily="34" charset="0"/>
              <a:ea typeface="SamsungOne 800" panose="020B0903030303020204" pitchFamily="34" charset="0"/>
            </a:endParaRPr>
          </a:p>
          <a:p>
            <a:pPr algn="ctr"/>
            <a:endParaRPr lang="en-US" sz="4000" b="1" dirty="0">
              <a:solidFill>
                <a:srgbClr val="E81B25"/>
              </a:solidFill>
              <a:latin typeface="Berlin Sans FB Demi" panose="020E0802020502020306" pitchFamily="34" charset="0"/>
              <a:ea typeface="SamsungOne 800" panose="020B0903030303020204" pitchFamily="34" charset="0"/>
            </a:endParaRPr>
          </a:p>
          <a:p>
            <a:pPr algn="ctr"/>
            <a:r>
              <a:rPr lang="en-US" sz="4000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Two </a:t>
            </a:r>
            <a:r>
              <a:rPr lang="en-US" sz="4000" b="1" dirty="0" err="1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Openclaw</a:t>
            </a:r>
            <a:r>
              <a:rPr lang="en-US" sz="4000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 agents, connected across devices</a:t>
            </a:r>
          </a:p>
          <a:p>
            <a:pPr algn="ctr"/>
            <a:endParaRPr lang="en-US" sz="4000" b="1" dirty="0">
              <a:solidFill>
                <a:srgbClr val="E81B25"/>
              </a:solidFill>
              <a:latin typeface="Berlin Sans FB Demi" panose="020E0802020502020306" pitchFamily="34" charset="0"/>
              <a:ea typeface="SamsungOne 800" panose="020B0903030303020204" pitchFamily="34" charset="0"/>
            </a:endParaRPr>
          </a:p>
          <a:p>
            <a:pPr algn="ctr"/>
            <a:r>
              <a:rPr lang="en-US" sz="2800" b="1" dirty="0">
                <a:solidFill>
                  <a:schemeClr val="tx2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Rachit Mittal – 1RV24CI089</a:t>
            </a:r>
          </a:p>
          <a:p>
            <a:pPr algn="ctr"/>
            <a:r>
              <a:rPr lang="en-US" sz="2800" b="1" dirty="0">
                <a:solidFill>
                  <a:schemeClr val="tx2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Aayush Bhandari – 1RV24CI149</a:t>
            </a:r>
            <a:br>
              <a:rPr lang="en-US" sz="4000" b="1" dirty="0">
                <a:solidFill>
                  <a:schemeClr val="tx2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</a:br>
            <a:endParaRPr lang="en-US" sz="4000" b="1" dirty="0">
              <a:solidFill>
                <a:schemeClr val="tx2"/>
              </a:solidFill>
              <a:latin typeface="Berlin Sans FB Demi" panose="020E0802020502020306" pitchFamily="34" charset="0"/>
              <a:ea typeface="SamsungOne 800" panose="020B0903030303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263B24E-BBCD-4BAC-9AEF-81547E82C9E5}"/>
              </a:ext>
            </a:extLst>
          </p:cNvPr>
          <p:cNvGrpSpPr/>
          <p:nvPr/>
        </p:nvGrpSpPr>
        <p:grpSpPr>
          <a:xfrm>
            <a:off x="137355" y="46746"/>
            <a:ext cx="3814159" cy="639045"/>
            <a:chOff x="137355" y="133834"/>
            <a:chExt cx="3814159" cy="639045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3C9D2D8C-378C-4311-B59D-9891D5378E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7355" y="133834"/>
              <a:ext cx="974396" cy="639045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AA001E0-3B05-4E97-9F59-DA7472558885}"/>
                </a:ext>
              </a:extLst>
            </p:cNvPr>
            <p:cNvSpPr txBox="1"/>
            <p:nvPr/>
          </p:nvSpPr>
          <p:spPr>
            <a:xfrm>
              <a:off x="1017814" y="244337"/>
              <a:ext cx="29337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>
                  <a:latin typeface="Berlin Sans FB Demi" panose="020E0802020502020306" pitchFamily="34" charset="0"/>
                  <a:ea typeface="SamsungOne 800" panose="020B0903030303020204" pitchFamily="34" charset="0"/>
                </a:rPr>
                <a:t>| Tech Management, SRI-B</a:t>
              </a:r>
              <a:endParaRPr lang="en-US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547319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807004" y="2521059"/>
            <a:ext cx="1057799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err="1"/>
              <a:t>OpenClaw</a:t>
            </a:r>
            <a:r>
              <a:rPr lang="en-US" sz="2800" dirty="0"/>
              <a:t> agents on separate devices lack a reliable way to discover each other, establish trust, and maintain a live two-way communication channel, which prevents them from coordinating state or exchanging actions across machines.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451803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Current Solution &amp; Gaps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740496" y="1682945"/>
            <a:ext cx="10841904" cy="523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 main project is the connection between two </a:t>
            </a:r>
            <a:r>
              <a:rPr lang="en-US" sz="2800" dirty="0" err="1"/>
              <a:t>OpenClaw</a:t>
            </a:r>
            <a:r>
              <a:rPr lang="en-US" sz="2800" dirty="0"/>
              <a:t> nodes.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Once connected, the nodes can discover each other, negotiate trust, and exchange messages and actions.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This creates a mesh-style agent link that can be used for many workflows, not just file sharing.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File tracking is one example application that demonstrates what the connection layer can do.</a:t>
            </a:r>
          </a:p>
          <a:p>
            <a:br>
              <a:rPr lang="en-US" dirty="0"/>
            </a:b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Your Solutions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740496" y="1682945"/>
            <a:ext cx="10972800" cy="5663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Two agents on separate machines can cooperate like one distributed system.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They can exchange state, sync updates, coordinate tasks, and react to events from either side.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This opens the door to remote automation, multi-device workflows, collaboration tools, and live synchronization.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 connection layer is the foundation; applications built on top of it can be much broader.</a:t>
            </a:r>
          </a:p>
          <a:p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5258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8D9BA-1341-296B-154E-A8F657C1F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8B083D3-E75C-D016-A97A-58D463ABA177}"/>
              </a:ext>
            </a:extLst>
          </p:cNvPr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842635E-4523-F123-9CA8-A6168EF114A7}"/>
              </a:ext>
            </a:extLst>
          </p:cNvPr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78B09B8-6AB4-12D7-3716-A3E105B9E25A}"/>
              </a:ext>
            </a:extLst>
          </p:cNvPr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7AA0619-0792-8025-78C2-FEF40BC2498D}"/>
              </a:ext>
            </a:extLst>
          </p:cNvPr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What the extension does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3699D3A7-A9C3-EFB0-C9A7-D2B53D4BD0B5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4010AF-85DD-B2CB-5783-4E316379D0C0}"/>
              </a:ext>
            </a:extLst>
          </p:cNvPr>
          <p:cNvSpPr txBox="1"/>
          <p:nvPr/>
        </p:nvSpPr>
        <p:spPr>
          <a:xfrm>
            <a:off x="740496" y="1682945"/>
            <a:ext cx="109728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Discovers nearby </a:t>
            </a:r>
            <a:r>
              <a:rPr lang="en-US" sz="2800" dirty="0" err="1"/>
              <a:t>OpenClaw</a:t>
            </a:r>
            <a:r>
              <a:rPr lang="en-US" sz="2800" dirty="0"/>
              <a:t> nodes on the network.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Establishes a secure peer connection between two devices.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Lets the nodes exchange messages, events, manifests, and actions.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Supports approval before a new peer joins the mesh.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Keeps the two agents aware of each other’s state and changes.</a:t>
            </a:r>
          </a:p>
          <a:p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37244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Demo/Product Walkthrough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844C144-2237-FF21-C515-04DDEC385A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9360" y="1874464"/>
            <a:ext cx="6705600" cy="4529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9606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8C5B8-DD50-2E84-6CF2-5F104FB48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C58AEF3-2A97-568F-4CB9-5D7A3D167D88}"/>
              </a:ext>
            </a:extLst>
          </p:cNvPr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BDF451C-B287-A32F-6F9E-5A9E7FE45340}"/>
              </a:ext>
            </a:extLst>
          </p:cNvPr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60852FDF-2FAC-FC69-A799-B5FC641284B4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258C431-5349-6284-E108-5F68F2FF82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141" y="219456"/>
            <a:ext cx="11653025" cy="6549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8845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21CE8-2195-805A-59F4-5E670B8DA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1CF0CCA-687C-EA72-54A8-FC96E246DA6C}"/>
              </a:ext>
            </a:extLst>
          </p:cNvPr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E2ED09B-6F53-F002-05F7-755056922A5B}"/>
              </a:ext>
            </a:extLst>
          </p:cNvPr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41DF72B5-1C37-F3B2-7241-AA2673B4CE0E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F5F072F-8C8D-7766-F5D5-5621CC578D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219456"/>
            <a:ext cx="7772400" cy="6486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4106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Tech &amp; Architecture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740496" y="1682945"/>
            <a:ext cx="978625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OpenClaw</a:t>
            </a:r>
            <a:r>
              <a:rPr lang="en-US" sz="2400" dirty="0"/>
              <a:t> Gateway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Mesh Extension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Discovery: subnet scan + </a:t>
            </a:r>
            <a:r>
              <a:rPr lang="en-US" sz="2400" dirty="0" err="1"/>
              <a:t>mDNS</a:t>
            </a:r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Transport: WebSocket approval, manifest exchange, push/pull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Sync state: hash tracking, pending changes, conflict detection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File watcher: all files, deletions, binary support, feedback-loop suppression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Tech stack: TypeScript, Node.js 22+, </a:t>
            </a:r>
            <a:r>
              <a:rPr lang="en-US" sz="2400" dirty="0" err="1"/>
              <a:t>OpenClaw</a:t>
            </a:r>
            <a:r>
              <a:rPr lang="en-US" sz="2400" dirty="0"/>
              <a:t> plugin runtime</a:t>
            </a:r>
          </a:p>
          <a:p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6787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Use cases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431181" y="1738471"/>
            <a:ext cx="9897767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Remote collaboration between agents on different machines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Shared task execution across devices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Live propagation of state and events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Distributed workflows for labs, teams, and offline networks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File tracking is only one proof-of-power example, not the limit of the system</a:t>
            </a:r>
          </a:p>
          <a:p>
            <a:br>
              <a:rPr lang="en-US" sz="2800" dirty="0"/>
            </a:b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2773580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740496" y="1682945"/>
            <a:ext cx="10841904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800" dirty="0"/>
              <a:t>Direct peer-to-peer agent linking on local networks: </a:t>
            </a:r>
            <a:r>
              <a:rPr lang="en-US" sz="2800" dirty="0" err="1"/>
              <a:t>OpenClaw</a:t>
            </a:r>
            <a:r>
              <a:rPr lang="en-US" sz="2800" dirty="0"/>
              <a:t> nodes can discover, trust, and communicate with each other without relying on a central server or cloud backend.</a:t>
            </a:r>
          </a:p>
          <a:p>
            <a:pPr marL="342900" indent="-342900">
              <a:buFont typeface="+mj-lt"/>
              <a:buAutoNum type="arabicPeriod"/>
            </a:pPr>
            <a:endParaRPr lang="en-US" sz="2800" dirty="0"/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Reusable connection layer for many use cases: the same mesh channel can power file sync, shared state, remote actions, and future multi-agent workflows, making the core system much more valuable than a single demo feature.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64258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Demo Link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609600" y="1841178"/>
            <a:ext cx="55705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https://github.com/rxchitrx/openclaw-mesh-extension</a:t>
            </a:r>
            <a:br>
              <a:rPr lang="en-US" dirty="0"/>
            </a:br>
            <a:br>
              <a:rPr lang="en-US" dirty="0"/>
            </a:br>
            <a:r>
              <a:rPr lang="en-US" dirty="0"/>
              <a:t>https://</a:t>
            </a:r>
            <a:r>
              <a:rPr lang="en-US" dirty="0" err="1"/>
              <a:t>drive.google.com</a:t>
            </a:r>
            <a:r>
              <a:rPr lang="en-US" dirty="0"/>
              <a:t>/drive/folders/1h6EmILlajb08m-4zhbxEZOVtthdrEanX?usp=sharing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82795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4761570" y="3002280"/>
            <a:ext cx="26688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267" dirty="0"/>
          </a:p>
        </p:txBody>
      </p:sp>
    </p:spTree>
    <p:extLst>
      <p:ext uri="{BB962C8B-B14F-4D97-AF65-F5344CB8AC3E}">
        <p14:creationId xmlns:p14="http://schemas.microsoft.com/office/powerpoint/2010/main" val="2308232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505</Words>
  <Application>Microsoft Macintosh PowerPoint</Application>
  <PresentationFormat>Widescreen</PresentationFormat>
  <Paragraphs>97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Berlin Sans FB Demi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Prakhar Chandrakar ./PRISM /SRI-Bangalore/Professional/Samsung Electronics</dc:creator>
  <cp:lastModifiedBy>Rachit Mittal</cp:lastModifiedBy>
  <cp:revision>7</cp:revision>
  <dcterms:created xsi:type="dcterms:W3CDTF">2026-04-27T09:11:02Z</dcterms:created>
  <dcterms:modified xsi:type="dcterms:W3CDTF">2026-05-08T17:25:00Z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